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    <Relationship Id="rId8" Type="http://schemas.openxmlformats.org/officeDocument/2006/relationships/slide" Target="slides/slide6.xml"/>
    <Relationship Id="rId9" Type="http://schemas.openxmlformats.org/officeDocument/2006/relationships/slide" Target="slides/slide7.xml"/>
    <Relationship Id="rId10" Type="http://schemas.openxmlformats.org/officeDocument/2006/relationships/slide" Target="slides/slide8.xml"/>
    <Relationship Id="rId11" Type="http://schemas.openxmlformats.org/officeDocument/2006/relationships/slide" Target="slides/slide9.xml"/>
    <Relationship Id="rId12" Type="http://schemas.openxmlformats.org/officeDocument/2006/relationships/slide" Target="slides/slide10.xml"/>
    <Relationship Id="rId13" Type="http://schemas.openxmlformats.org/officeDocument/2006/relationships/slide" Target="slides/slide11.xml"/>
    <Relationship Id="rId14" Type="http://schemas.openxmlformats.org/officeDocument/2006/relationships/slide" Target="slides/slide12.xml"/>
    <Relationship Id="rId15" Type="http://schemas.openxmlformats.org/officeDocument/2006/relationships/slide" Target="slides/slide13.xml"/>
    <Relationship Id="rId16" Type="http://schemas.openxmlformats.org/officeDocument/2006/relationships/slide" Target="slides/slide14.xml"/>
    <Relationship Id="rId17" Type="http://schemas.openxmlformats.org/officeDocument/2006/relationships/slide" Target="slides/slide15.xml"/>
    <Relationship Id="rId18" Type="http://schemas.openxmlformats.org/officeDocument/2006/relationships/slide" Target="slides/slide16.xml"/>
    <Relationship Id="rId19" Type="http://schemas.openxmlformats.org/officeDocument/2006/relationships/slide" Target="slides/slide17.xml"/>
    <Relationship Id="rId20" Type="http://schemas.openxmlformats.org/officeDocument/2006/relationships/slide" Target="slides/slide18.xml"/>
    <Relationship Id="rId21" Type="http://schemas.openxmlformats.org/officeDocument/2006/relationships/slide" Target="slides/slide19.xml"/>
    <Relationship Id="rId22" Type="http://schemas.openxmlformats.org/officeDocument/2006/relationships/slide" Target="slides/slide20.xml"/>
    <Relationship Id="rId23" Type="http://schemas.openxmlformats.org/officeDocument/2006/relationships/slide" Target="slides/slide21.xml"/>
    <Relationship Id="rId24" Type="http://schemas.openxmlformats.org/officeDocument/2006/relationships/slide" Target="slides/slide22.xml"/>
    <Relationship Id="rId25" Type="http://schemas.openxmlformats.org/officeDocument/2006/relationships/slide" Target="slides/slide23.xml"/>
    <Relationship Id="rId26" Type="http://schemas.openxmlformats.org/officeDocument/2006/relationships/slide" Target="slides/slide24.xml"/>
    <Relationship Id="rId27" Type="http://schemas.openxmlformats.org/officeDocument/2006/relationships/slide" Target="slides/slide25.xml"/>
    <Relationship Id="rId28" Type="http://schemas.openxmlformats.org/officeDocument/2006/relationships/slide" Target="slides/slide26.xml"/>
    <Relationship Id="rId29" Type="http://schemas.openxmlformats.org/officeDocument/2006/relationships/slide" Target="slides/slide27.xml"/>
    <Relationship Id="rId30" Type="http://schemas.openxmlformats.org/officeDocument/2006/relationships/slide" Target="slides/slide28.xml"/>
    <Relationship Id="rId31" Type="http://schemas.openxmlformats.org/officeDocument/2006/relationships/slide" Target="slides/slide29.xml"/>
    <Relationship Id="rId32" Type="http://schemas.openxmlformats.org/officeDocument/2006/relationships/slide" Target="slides/slide30.xml"/>
    <Relationship Id="rId33" Type="http://schemas.openxmlformats.org/officeDocument/2006/relationships/slide" Target="slides/slide31.xml"/>
    <Relationship Id="rId34" Type="http://schemas.openxmlformats.org/officeDocument/2006/relationships/slide" Target="slides/slide32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6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7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8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9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0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3200"/>
            <a:ext cx="8230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i="0" dirty="0">
                <a:solidFill>
                  <a:srgbClr val="1F497D"/>
                </a:solidFill>
              </a:rPr>
              <a:t>Q4 2024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3200"/>
            <a:ext cx="8230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600" b="1" i="0" dirty="0">
                <a:solidFill>
                  <a:srgbClr val="4F81BD"/>
                </a:solidFill>
              </a:rPr>
              <a:t>Strategic Initiatives &amp;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Agenda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400" b="0" i="0" dirty="0"/>
              <a:t>1. Executive Summary</a:t>
            </a:r>
          </a:p>
          <a:p>
            <a:pPr lvl="0"/>
            <a:r>
              <a:rPr lang="en-US" sz="2400" b="0" i="0" dirty="0"/>
              <a:t>2. Financial Performance</a:t>
            </a:r>
          </a:p>
          <a:p>
            <a:pPr lvl="0"/>
            <a:r>
              <a:rPr lang="en-US" sz="2400" b="0" i="0" dirty="0"/>
              <a:t>3. Regional Analysis</a:t>
            </a:r>
          </a:p>
          <a:p>
            <a:pPr lvl="0"/>
            <a:r>
              <a:rPr lang="en-US" sz="2400" b="0" i="0" dirty="0"/>
              <a:t>4. Product Portfolio</a:t>
            </a:r>
          </a:p>
          <a:p>
            <a:pPr lvl="0"/>
            <a:r>
              <a:rPr lang="en-US" sz="2400" b="0" i="0" dirty="0"/>
              <a:t>5. Market Trends</a:t>
            </a:r>
          </a:p>
          <a:p>
            <a:pPr lvl="0"/>
            <a:r>
              <a:rPr lang="en-US" sz="2400" b="0" i="0" dirty="0"/>
              <a:t>6. Strategic Roadmap</a:t>
            </a:r>
          </a:p>
          <a:p>
            <a:pPr lvl="0"/>
            <a:r>
              <a:rPr lang="en-US" sz="2400" b="0" i="0" dirty="0"/>
              <a:t>7.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800" b="1" i="0" dirty="0">
                <a:solidFill>
                  <a:srgbClr val="C0504D"/>
                </a:solidFill>
              </a:rPr>
              <a:t>Executive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Q4 Highlights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189200"/>
            <a:ext cx="82302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1" i="0" dirty="0"/>
              <a:t>Revenue: $8.7M (+22% YoY)</a:t>
            </a:r>
          </a:p>
          <a:p>
            <a:pPr lvl="0"/>
            <a:r>
              <a:rPr lang="en-US" sz="2800" b="1" i="0" dirty="0"/>
              <a:t>Net Profit Margin: 18.5% (+3.2pp)</a:t>
            </a:r>
          </a:p>
          <a:p>
            <a:pPr lvl="0"/>
            <a:r>
              <a:rPr lang="en-US" sz="2800" b="1" i="0" dirty="0"/>
              <a:t>Customer Acquisition: 1,250 new accounts</a:t>
            </a:r>
          </a:p>
          <a:p>
            <a:pPr lvl="0"/>
            <a:r>
              <a:rPr lang="en-US" sz="2800" b="1" i="0" dirty="0"/>
              <a:t>Employee NPS: 72 (+8 points)</a:t>
            </a:r>
          </a:p>
          <a:p>
            <a:pPr lvl="0"/>
            <a:r>
              <a:rPr lang="en-US" sz="2800" b="1" i="0" dirty="0"/>
              <a:t>Market Share: 23.5% (+2.1pp)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Performance vs Target</a:t>
            </a:r>
          </a:p>
        </p:txBody>
      </p:sp>
      <p:sp>
        <p:nvSpPr>
          <p:cNvPr id="3" name="Left Content"/>
          <p:cNvSpPr txBox="1"/>
          <p:nvPr/>
        </p:nvSpPr>
        <p:spPr>
          <a:xfrm>
            <a:off x="4572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Revenue: 108% of target</a:t>
            </a:r>
          </a:p>
          <a:p>
            <a:pPr lvl="0"/>
            <a:r>
              <a:rPr lang="en-US" sz="2800" b="0" i="0" dirty="0"/>
              <a:t>Profit: 112% of target</a:t>
            </a:r>
          </a:p>
          <a:p>
            <a:pPr lvl="0"/>
            <a:r>
              <a:rPr lang="en-US" sz="2800" b="0" i="0" dirty="0"/>
              <a:t>Growth: 95% of target</a:t>
            </a:r>
          </a:p>
        </p:txBody>
      </p:sp>
      <p:sp>
        <p:nvSpPr>
          <p:cNvPr id="4" name="Right Content"/>
          <p:cNvSpPr txBox="1"/>
          <p:nvPr/>
        </p:nvSpPr>
        <p:spPr>
          <a:xfrm>
            <a:off x="45723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✓ Exceeded expectations</a:t>
            </a:r>
          </a:p>
          <a:p>
            <a:pPr lvl="0"/>
            <a:r>
              <a:rPr lang="en-US" sz="2800" b="0" i="0" dirty="0"/>
              <a:t>✓ Record Q4 performance</a:t>
            </a:r>
          </a:p>
          <a:p>
            <a:pPr lvl="0"/>
            <a:r>
              <a:rPr lang="en-US" sz="2800" b="0" i="0" dirty="0"/>
              <a:t>✓ All regions profitable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800" b="1" i="0" dirty="0">
                <a:solidFill>
                  <a:srgbClr val="C0504D"/>
                </a:solidFill>
              </a:rPr>
              <a:t>Financial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Quarterly P&amp;L Summary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0" y="0"/>
          <a:ext cx="4800000" cy="2400000"/>
        </p:xfrm>
        <a:graphic>
          <a:graphicData uri="http://schemas.openxmlformats.org/drawingml/2006/table">
            <a:tbl>
              <a:tblPr firstRow="1" bandHVals="1"/>
              <a:tblGrid>
                <a:gridCol w="1200000"/>
                <a:gridCol w="1200000"/>
                <a:gridCol w="1200000"/>
                <a:gridCol w="1200000"/>
              </a:tblGrid>
              <a:tr h="400000">
                <a:tc>
                  <a:tcPr marL="91440" marR="91440" marT="45720" marB="45720" anchor="ctr" anchorCtr="0">
                    <a:solidFill>
                      <a:srgbClr val="1F497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Quarter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1F497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Revenue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1F497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Expenses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1F497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Profit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Q1 2024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$1.8M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$1.4M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$0.4M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Q2 2024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$2.1M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$1.5M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$0.6M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Q3 2024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$2.4M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$1.7M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$0.7M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Q4 2024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$2.8M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$1.9M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9BBB59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$0.9M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Total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$9.1M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$6.5M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$2.6M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Regional Revenue Breakdown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0" y="0"/>
          <a:ext cx="5000000" cy="2000000"/>
        </p:xfrm>
        <a:graphic>
          <a:graphicData uri="http://schemas.openxmlformats.org/drawingml/2006/table">
            <a:tbl>
              <a:tblPr firstRow="1" bandHVals="1"/>
              <a:tblGrid>
                <a:gridCol w="1000000"/>
                <a:gridCol w="1000000"/>
                <a:gridCol w="1000000"/>
                <a:gridCol w="1000000"/>
                <a:gridCol w="1000000"/>
              </a:tblGrid>
              <a:tr h="400000"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Region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Q1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Q2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Q3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Q4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North America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$0.8M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$0.9M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$1.0M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$1.2M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Europe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$0.5M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$0.6M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$0.7M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$0.8M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Asia Pacific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$0.3M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$0.4M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$0.5M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$0.6M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Latin America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$0.2M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$0.2M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$0.2M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$0.2M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Key Financial Metrics</a:t>
            </a:r>
          </a:p>
        </p:txBody>
      </p:sp>
      <p:sp>
        <p:nvSpPr>
          <p:cNvPr id="3" name="Left Content"/>
          <p:cNvSpPr txBox="1"/>
          <p:nvPr/>
        </p:nvSpPr>
        <p:spPr>
          <a:xfrm>
            <a:off x="4572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Revenue Growth: +22%</a:t>
            </a:r>
          </a:p>
          <a:p>
            <a:pPr lvl="0"/>
            <a:r>
              <a:rPr lang="en-US" sz="2800" b="0" i="0" dirty="0"/>
              <a:t>Gross Margin: 71%</a:t>
            </a:r>
          </a:p>
          <a:p>
            <a:pPr lvl="0"/>
            <a:r>
              <a:rPr lang="en-US" sz="2800" b="0" i="0" dirty="0"/>
              <a:t>Operating Margin: 29%</a:t>
            </a:r>
          </a:p>
        </p:txBody>
      </p:sp>
      <p:sp>
        <p:nvSpPr>
          <p:cNvPr id="4" name="Right Content"/>
          <p:cNvSpPr txBox="1"/>
          <p:nvPr/>
        </p:nvSpPr>
        <p:spPr>
          <a:xfrm>
            <a:off x="45723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EBITDA: $3.2M</a:t>
            </a:r>
          </a:p>
          <a:p>
            <a:pPr lvl="0"/>
            <a:r>
              <a:rPr lang="en-US" sz="2800" b="0" i="0" dirty="0"/>
              <a:t>Cash Flow: +$2.1M</a:t>
            </a:r>
          </a:p>
          <a:p>
            <a:pPr lvl="0"/>
            <a:r>
              <a:rPr lang="en-US" sz="2800" b="0" i="0" dirty="0"/>
              <a:t>ROI: 18.5%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800" b="1" i="0" dirty="0">
                <a:solidFill>
                  <a:srgbClr val="C0504D"/>
                </a:solidFill>
              </a:rPr>
              <a:t>Regional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Revenue by Region - Q4 2024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North America: $1.2M (+20% QoQ)</a:t>
            </a:r>
          </a:p>
          <a:p>
            <a:pPr lvl="0"/>
            <a:r>
              <a:rPr lang="en-US" sz="2800" b="0" i="0" dirty="0"/>
              <a:t>Europe: $0.8M (+14% QoQ)</a:t>
            </a:r>
          </a:p>
          <a:p>
            <a:pPr lvl="0"/>
            <a:r>
              <a:rPr lang="en-US" sz="2800" b="0" i="0" dirty="0"/>
              <a:t>Asia Pacific: $0.6M (+20% QoQ)</a:t>
            </a:r>
          </a:p>
          <a:p>
            <a:pPr lvl="0"/>
            <a:r>
              <a:rPr lang="en-US" sz="2800" b="0" i="0" dirty="0"/>
              <a:t>Latin America: $0.2M (flat)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Monthly Revenue Trend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Consistent month-over-month growth</a:t>
            </a:r>
          </a:p>
          <a:p>
            <a:pPr lvl="0"/>
            <a:r>
              <a:rPr lang="en-US" sz="2800" b="0" i="0" dirty="0"/>
              <a:t>December peak: $1.05M</a:t>
            </a:r>
          </a:p>
          <a:p>
            <a:pPr lvl="0"/>
            <a:r>
              <a:rPr lang="en-US" sz="2800" b="0" i="0" dirty="0"/>
              <a:t>YoY improvement: +24%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Market Segmentation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Enterprise: 45% - Core business</a:t>
            </a:r>
          </a:p>
          <a:p>
            <a:pPr lvl="0"/>
            <a:r>
              <a:rPr lang="en-US" sz="2800" b="0" i="0" dirty="0"/>
              <a:t>SMB: 30% - Growth opportunity</a:t>
            </a:r>
          </a:p>
          <a:p>
            <a:pPr lvl="0"/>
            <a:r>
              <a:rPr lang="en-US" sz="2800" b="0" i="0" dirty="0"/>
              <a:t>Consumer: 15% - Stable</a:t>
            </a:r>
          </a:p>
          <a:p>
            <a:pPr lvl="0"/>
            <a:r>
              <a:rPr lang="en-US" sz="2800" b="0" i="0" dirty="0"/>
              <a:t>Government: 10% - New contracts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800" b="1" i="0" dirty="0">
                <a:solidFill>
                  <a:srgbClr val="C0504D"/>
                </a:solidFill>
              </a:rPr>
              <a:t>Product Portfolio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Product Revenue Performance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0" y="0"/>
          <a:ext cx="4500000" cy="2000000"/>
        </p:xfrm>
        <a:graphic>
          <a:graphicData uri="http://schemas.openxmlformats.org/drawingml/2006/table">
            <a:tbl>
              <a:tblPr firstRow="1" bandHVals="1"/>
              <a:tblGrid>
                <a:gridCol w="1500000"/>
                <a:gridCol w="1500000"/>
                <a:gridCol w="1500000"/>
              </a:tblGrid>
              <a:tr h="400000"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Product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Revenue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Growth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Platform Pro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$4.2M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9BBB59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+28%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Analytics Suite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$2.8M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+18%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Integration Hub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$1.5M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9BBB59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+35%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Mobile SDK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$0.6M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+12%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Product Highlights</a:t>
            </a:r>
          </a:p>
        </p:txBody>
      </p:sp>
      <p:sp>
        <p:nvSpPr>
          <p:cNvPr id="3" name="Left Content"/>
          <p:cNvSpPr txBox="1"/>
          <p:nvPr/>
        </p:nvSpPr>
        <p:spPr>
          <a:xfrm>
            <a:off x="4572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Platform Pro: Flagship</a:t>
            </a:r>
          </a:p>
          <a:p>
            <a:pPr lvl="0"/>
            <a:r>
              <a:rPr lang="en-US" sz="2800" b="0" i="0" dirty="0"/>
              <a:t>Analytics Suite: AI-powered</a:t>
            </a:r>
          </a:p>
          <a:p>
            <a:pPr lvl="0"/>
            <a:r>
              <a:rPr lang="en-US" sz="2800" b="0" i="0" dirty="0"/>
              <a:t>Integration Hub: 50+ connectors</a:t>
            </a:r>
          </a:p>
        </p:txBody>
      </p:sp>
      <p:sp>
        <p:nvSpPr>
          <p:cNvPr id="4" name="Right Content"/>
          <p:cNvSpPr txBox="1"/>
          <p:nvPr/>
        </p:nvSpPr>
        <p:spPr>
          <a:xfrm>
            <a:off x="45723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Best-in-class security</a:t>
            </a:r>
          </a:p>
          <a:p>
            <a:pPr lvl="0"/>
            <a:r>
              <a:rPr lang="en-US" sz="2800" b="0" i="0" dirty="0"/>
              <a:t>99.9% uptime SLA</a:t>
            </a:r>
          </a:p>
          <a:p>
            <a:pPr lvl="0"/>
            <a:r>
              <a:rPr lang="en-US" sz="2800" b="0" i="0" dirty="0"/>
              <a:t>24/7 support included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New Product Launches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600" b="0" i="0" dirty="0"/>
              <a:t>Q1 2025: AI Assistant (Beta)</a:t>
            </a:r>
          </a:p>
          <a:p>
            <a:pPr lvl="0"/>
            <a:r>
              <a:rPr lang="en-US" sz="2600" b="0" i="0" dirty="0"/>
              <a:t>Q2 2025: Mobile App v3.0</a:t>
            </a:r>
          </a:p>
          <a:p>
            <a:pPr lvl="0"/>
            <a:r>
              <a:rPr lang="en-US" sz="2600" b="0" i="0" dirty="0"/>
              <a:t>Q3 2025: Enterprise Dashboard</a:t>
            </a:r>
          </a:p>
          <a:p>
            <a:pPr lvl="0"/>
            <a:r>
              <a:rPr lang="en-US" sz="2600" b="0" i="0" dirty="0"/>
              <a:t>Q4 2025: API Gateway 2.0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800" b="1" i="0" dirty="0">
                <a:solidFill>
                  <a:srgbClr val="C0504D"/>
                </a:solidFill>
              </a:rPr>
              <a:t>Market Trends &amp; Competition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Competitive Landscape</a:t>
            </a:r>
          </a:p>
        </p:txBody>
      </p:sp>
      <p:graphicFrame>
        <p:nvGraphicFramePr>
          <p:cNvPr id="3" name="Table 3"/>
          <p:cNvGraphicFramePr/>
          <p:nvPr/>
        </p:nvGraphicFramePr>
        <p:xfrm>
          <a:off x="0" y="0"/>
          <a:ext cx="4400000" cy="2000000"/>
        </p:xfrm>
        <a:graphic>
          <a:graphicData uri="http://schemas.openxmlformats.org/drawingml/2006/table">
            <a:tbl>
              <a:tblPr firstRow="1" bandHVals="1"/>
              <a:tblGrid>
                <a:gridCol w="1200000"/>
                <a:gridCol w="1000000"/>
                <a:gridCol w="1000000"/>
                <a:gridCol w="1200000"/>
              </a:tblGrid>
              <a:tr h="400000"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Company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Share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Growth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4F81BD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Strength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Our Company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9BBB59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1"/>
                        <a:t>23.5%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+2.1pp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Innovation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Competitor A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28.0%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-0.5pp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Scale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Competitor B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18.5%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+0.8pp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Price</a:t>
                      </a:r>
                    </a:p>
                  </a:txBody>
                </a:tc>
              </a:tr>
              <a:tr h="400000"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Others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30.0%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-2.4pp</a:t>
                      </a:r>
                    </a:p>
                  </a:txBody>
                </a:tc>
                <a:tc>
                  <a:tcPr marL="91440" marR="91440" marT="45720" marB="45720" anchor="ctr" anchorCtr="0">
                    <a:solidFill>
                      <a:srgbClr val="F2F2F2"/>
                    </a:solidFill>
                  </a:tcPr>
                  <a:txBody>
                    <a:bodyPr rot="0" vert="horz" anchor="ctr" anchorCtr="0"/>
                    <a:lstStyle/>
                    <a:p>
                      <a:pPr algn="ctr"/>
                      <a:r>
                        <a:rPr lang="en-US" sz="2000" b="0"/>
                        <a:t>Various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Industry Trends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400" b="0" i="0" dirty="0"/>
              <a:t>AI/ML adoption accelerating (+45% YoY)</a:t>
            </a:r>
          </a:p>
          <a:p>
            <a:pPr lvl="0"/>
            <a:r>
              <a:rPr lang="en-US" sz="2400" b="0" i="0" dirty="0"/>
              <a:t>Cloud-first strategies dominating</a:t>
            </a:r>
          </a:p>
          <a:p>
            <a:pPr lvl="0"/>
            <a:r>
              <a:rPr lang="en-US" sz="2400" b="0" i="0" dirty="0"/>
              <a:t>Security &amp; compliance top priority</a:t>
            </a:r>
          </a:p>
          <a:p>
            <a:pPr lvl="0"/>
            <a:r>
              <a:rPr lang="en-US" sz="2400" b="0" i="0" dirty="0"/>
              <a:t>API-driven architectures growing</a:t>
            </a:r>
          </a:p>
          <a:p>
            <a:pPr lvl="0"/>
            <a:r>
              <a:rPr lang="en-US" sz="2400" b="0" i="0" dirty="0"/>
              <a:t>Remote work tools in high demand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Our Competitive Advantages</a:t>
            </a:r>
          </a:p>
        </p:txBody>
      </p:sp>
      <p:sp>
        <p:nvSpPr>
          <p:cNvPr id="3" name="Left Content"/>
          <p:cNvSpPr txBox="1"/>
          <p:nvPr/>
        </p:nvSpPr>
        <p:spPr>
          <a:xfrm>
            <a:off x="4572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Fastest time-to-value</a:t>
            </a:r>
          </a:p>
          <a:p>
            <a:pPr lvl="0"/>
            <a:r>
              <a:rPr lang="en-US" sz="2800" b="0" i="0" dirty="0"/>
              <a:t>Best-in-class UX</a:t>
            </a:r>
          </a:p>
          <a:p>
            <a:pPr lvl="0"/>
            <a:r>
              <a:rPr lang="en-US" sz="2800" b="0" i="0" dirty="0"/>
              <a:t>Enterprise-grade security</a:t>
            </a:r>
          </a:p>
        </p:txBody>
      </p:sp>
      <p:sp>
        <p:nvSpPr>
          <p:cNvPr id="4" name="Right Content"/>
          <p:cNvSpPr txBox="1"/>
          <p:nvPr/>
        </p:nvSpPr>
        <p:spPr>
          <a:xfrm>
            <a:off x="45723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Lower TCO</a:t>
            </a:r>
          </a:p>
          <a:p>
            <a:pPr lvl="0"/>
            <a:r>
              <a:rPr lang="en-US" sz="2800" b="0" i="0" dirty="0"/>
              <a:t>Superior support</a:t>
            </a:r>
          </a:p>
          <a:p>
            <a:pPr lvl="0"/>
            <a:r>
              <a:rPr lang="en-US" sz="2800" b="0" i="0" dirty="0"/>
              <a:t>Continuous innovation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800" b="1" i="0" dirty="0">
                <a:solidFill>
                  <a:srgbClr val="C0504D"/>
                </a:solidFill>
              </a:rPr>
              <a:t>Strategic Roadmap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2025 Roadmap Overview</a:t>
            </a:r>
          </a:p>
        </p:txBody>
      </p:sp>
      <p:sp>
        <p:nvSpPr>
          <p:cNvPr id="10" name="Shape 10"/>
          <p:cNvSpPr/>
          <p:nvPr/>
        </p:nvSpPr>
        <p:spPr>
          <a:xfrm>
            <a:off x="300000" y="1800000"/>
            <a:ext cx="1800000" cy="800000"/>
          </a:xfrm>
          <a:prstGeom prst="rect">
            <a:avLst/>
          </a:prstGeom>
          <a:solidFill>
            <a:srgbClr val="4F81BD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Q1 2025</a:t>
            </a:r>
          </a:p>
        </p:txBody>
      </p:sp>
      <p:sp>
        <p:nvSpPr>
          <p:cNvPr id="11" name="Shape 11"/>
          <p:cNvSpPr/>
          <p:nvPr/>
        </p:nvSpPr>
        <p:spPr>
          <a:xfrm>
            <a:off x="2300000" y="1800000"/>
            <a:ext cx="1800000" cy="800000"/>
          </a:xfrm>
          <a:prstGeom prst="rect">
            <a:avLst/>
          </a:prstGeom>
          <a:solidFill>
            <a:srgbClr val="9BBB59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Q2 2025</a:t>
            </a:r>
          </a:p>
        </p:txBody>
      </p:sp>
      <p:sp>
        <p:nvSpPr>
          <p:cNvPr id="12" name="Shape 12"/>
          <p:cNvSpPr/>
          <p:nvPr/>
        </p:nvSpPr>
        <p:spPr>
          <a:xfrm>
            <a:off x="4300000" y="1800000"/>
            <a:ext cx="1800000" cy="800000"/>
          </a:xfrm>
          <a:prstGeom prst="rect">
            <a:avLst/>
          </a:prstGeom>
          <a:solidFill>
            <a:srgbClr val="C0504D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Q3 2025</a:t>
            </a:r>
          </a:p>
        </p:txBody>
      </p:sp>
      <p:sp>
        <p:nvSpPr>
          <p:cNvPr id="13" name="Shape 13"/>
          <p:cNvSpPr/>
          <p:nvPr/>
        </p:nvSpPr>
        <p:spPr>
          <a:xfrm>
            <a:off x="6300000" y="1800000"/>
            <a:ext cx="1800000" cy="800000"/>
          </a:xfrm>
          <a:prstGeom prst="rect">
            <a:avLst/>
          </a:prstGeom>
          <a:solidFill>
            <a:srgbClr val="8064A2"/>
          </a:solidFill>
        </p:spPr>
        <p:txBody>
          <a:bodyPr wrap="square" rtlCol="0" anchor="ctr"/>
          <a:lstStyle/>
          <a:p>
            <a:pPr algn="ctr"/>
            <a:r>
              <a:rPr lang="en-US" sz="1800" dirty="0"/>
              <a:t>Q4 2025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4F81BD"/>
                </a:solidFill>
              </a:rPr>
              <a:t>Q1 2025 Initiatives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600" b="0" i="0" dirty="0"/>
              <a:t>Launch AI Assistant Beta</a:t>
            </a:r>
          </a:p>
          <a:p>
            <a:pPr lvl="0"/>
            <a:r>
              <a:rPr lang="en-US" sz="2600" b="0" i="0" dirty="0"/>
              <a:t>Expand APAC sales team</a:t>
            </a:r>
          </a:p>
          <a:p>
            <a:pPr lvl="0"/>
            <a:r>
              <a:rPr lang="en-US" sz="2600" b="0" i="0" dirty="0"/>
              <a:t>SOC 2 Type II certification</a:t>
            </a:r>
          </a:p>
          <a:p>
            <a:pPr lvl="0"/>
            <a:r>
              <a:rPr lang="en-US" sz="2600" b="0" i="0" dirty="0"/>
              <a:t>Partner program launch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Q2-Q4 2025 Priorities</a:t>
            </a:r>
          </a:p>
        </p:txBody>
      </p:sp>
      <p:sp>
        <p:nvSpPr>
          <p:cNvPr id="3" name="Left Content"/>
          <p:cNvSpPr txBox="1"/>
          <p:nvPr/>
        </p:nvSpPr>
        <p:spPr>
          <a:xfrm>
            <a:off x="4572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Q2: Mobile App v3.0</a:t>
            </a:r>
          </a:p>
          <a:p>
            <a:pPr lvl="0"/>
            <a:r>
              <a:rPr lang="en-US" sz="2800" b="0" i="0" dirty="0"/>
              <a:t>Q2: EMEA expansion</a:t>
            </a:r>
          </a:p>
          <a:p>
            <a:pPr lvl="0"/>
            <a:r>
              <a:rPr lang="en-US" sz="2800" b="0" i="0" dirty="0"/>
              <a:t>Q3: Enterprise Dashboard</a:t>
            </a:r>
          </a:p>
        </p:txBody>
      </p:sp>
      <p:sp>
        <p:nvSpPr>
          <p:cNvPr id="4" name="Right Content"/>
          <p:cNvSpPr txBox="1"/>
          <p:nvPr/>
        </p:nvSpPr>
        <p:spPr>
          <a:xfrm>
            <a:off x="4572300" y="1189200"/>
            <a:ext cx="41151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0" i="0" dirty="0"/>
              <a:t>Q3: ISO 27001</a:t>
            </a:r>
          </a:p>
          <a:p>
            <a:pPr lvl="0"/>
            <a:r>
              <a:rPr lang="en-US" sz="2800" b="0" i="0" dirty="0"/>
              <a:t>Q4: API Gateway 2.0</a:t>
            </a:r>
          </a:p>
          <a:p>
            <a:pPr lvl="0"/>
            <a:r>
              <a:rPr lang="en-US" sz="2800" b="0" i="0" dirty="0"/>
              <a:t>Q4: IPO preparation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Investment Priorities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600" b="0" i="0" dirty="0"/>
              <a:t>R&amp;D: 35% of revenue (+5pp)</a:t>
            </a:r>
          </a:p>
          <a:p>
            <a:pPr lvl="0"/>
            <a:r>
              <a:rPr lang="en-US" sz="2600" b="0" i="0" dirty="0"/>
              <a:t>Sales &amp; Marketing: 25%</a:t>
            </a:r>
          </a:p>
          <a:p>
            <a:pPr lvl="0"/>
            <a:r>
              <a:rPr lang="en-US" sz="2600" b="0" i="0" dirty="0"/>
              <a:t>Customer Success: 15%</a:t>
            </a:r>
          </a:p>
          <a:p>
            <a:pPr lvl="0"/>
            <a:r>
              <a:rPr lang="en-US" sz="2600" b="0" i="0" dirty="0"/>
              <a:t>Infrastructure: 10%</a:t>
            </a:r>
          </a:p>
          <a:p>
            <a:pPr lvl="0"/>
            <a:r>
              <a:rPr lang="en-US" sz="2600" b="0" i="0" dirty="0"/>
              <a:t>G&amp;A: 15%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Key Takeaways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189200"/>
            <a:ext cx="8230200" cy="56688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800" b="1" i="0" dirty="0"/>
              <a:t>Record Q4 revenue: $2.8M (+22% YoY)</a:t>
            </a:r>
          </a:p>
          <a:p>
            <a:pPr lvl="0"/>
            <a:r>
              <a:rPr lang="en-US" sz="2800" b="1" i="0" dirty="0"/>
              <a:t>All regions profitable for first time</a:t>
            </a:r>
          </a:p>
          <a:p>
            <a:pPr lvl="0"/>
            <a:r>
              <a:rPr lang="en-US" sz="2800" b="1" i="0" dirty="0"/>
              <a:t>Market share gains: +2.1pp</a:t>
            </a:r>
          </a:p>
          <a:p>
            <a:pPr lvl="0"/>
            <a:r>
              <a:rPr lang="en-US" sz="2800" b="1" i="0" dirty="0"/>
              <a:t>Strong product pipeline for 2025</a:t>
            </a:r>
          </a:p>
          <a:p>
            <a:pPr lvl="0"/>
            <a:r>
              <a:rPr lang="en-US" sz="2800" b="1" i="0" dirty="0"/>
              <a:t>Well-positioned for continued growth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>
                <a:solidFill>
                  <a:srgbClr val="1F497D"/>
                </a:solidFill>
              </a:rPr>
              <a:t>Next Steps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/>
            <a:r>
              <a:rPr lang="en-US" sz="2600" b="0" i="0" dirty="0"/>
              <a:t>1. Finalize Q1 2025 hiring plan</a:t>
            </a:r>
          </a:p>
          <a:p>
            <a:pPr lvl="0"/>
            <a:r>
              <a:rPr lang="en-US" sz="2600" b="0" i="0" dirty="0"/>
              <a:t>2. Complete AI Assistant beta testing</a:t>
            </a:r>
          </a:p>
          <a:p>
            <a:pPr lvl="0"/>
            <a:r>
              <a:rPr lang="en-US" sz="2600" b="0" i="0" dirty="0"/>
              <a:t>3. Execute APAC expansion strategy</a:t>
            </a:r>
          </a:p>
          <a:p>
            <a:pPr lvl="0"/>
            <a:r>
              <a:rPr lang="en-US" sz="2600" b="0" i="0" dirty="0"/>
              <a:t>4. Prepare board presentation</a:t>
            </a:r>
          </a:p>
          <a:p>
            <a:pPr lvl="0"/>
            <a:r>
              <a:rPr lang="en-US" sz="2600" b="0" i="0" dirty="0"/>
              <a:t>5. Schedule customer advisory board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3200"/>
            <a:ext cx="8230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4800" b="1" i="0" dirty="0">
                <a:solidFill>
                  <a:srgbClr val="4F81BD"/>
                </a:solidFill>
              </a:rPr>
              <a:t>Questions &amp; Discussion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3200"/>
            <a:ext cx="8230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5400" b="1" i="0" dirty="0">
                <a:solidFill>
                  <a:srgbClr val="1F497D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3600" b="1" i="0" dirty="0">
                <a:solidFill>
                  <a:srgbClr val="666666"/>
                </a:solidFill>
              </a:rPr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pptx-rs</Application>
  <PresentationFormat>On-screen Show (4:3)</PresentationFormat>
  <Paragraphs>0</Paragraphs>
  <Slides>32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PPTX-RS Demo</dc:title>
  <dc:creator>pptx-rs</dc:creator>
  <cp:lastModifiedBy>pptx-rs</cp:lastModifiedBy>
  <cp:revision>1</cp:revision>
  <dcterms:created xsi:type="dcterms:W3CDTF">2025-11-27T11:05:27Z</dcterms:created>
  <dcterms:modified xsi:type="dcterms:W3CDTF">2025-11-27T11:05:27Z</dcterms:modified>
</cp:coreProperties>
</file>